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84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" name="Shape 1"/>
          <p:cNvSpPr/>
          <p:nvPr/>
        </p:nvSpPr>
        <p:spPr>
          <a:xfrm>
            <a:off x="7772400" y="-457200"/>
            <a:ext cx="2011680" cy="2011680"/>
          </a:xfrm>
          <a:prstGeom prst="ellipse">
            <a:avLst/>
          </a:prstGeom>
          <a:solidFill>
            <a:srgbClr val="14B8A6">
              <a:alpha val="40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" name="Shape 2"/>
          <p:cNvSpPr/>
          <p:nvPr/>
        </p:nvSpPr>
        <p:spPr>
          <a:xfrm>
            <a:off x="-731520" y="3840480"/>
            <a:ext cx="2286000" cy="228600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R" sz="36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Control de Préstamos</a:t>
            </a:r>
            <a:endParaRPr lang="es-CR" sz="3600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R" sz="1800" noProof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</a:t>
            </a:r>
            <a:r>
              <a:rPr lang="es-CR" noProof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s-CR" sz="1800" noProof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rogramación Orientada a Objetos</a:t>
            </a:r>
            <a:endParaRPr lang="es-CR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R" sz="1300" noProof="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Mauricio Avilés  ·  Instituto Tecnológico de Costa Rica</a:t>
            </a:r>
            <a:endParaRPr lang="es-CR" sz="1300" noProof="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0972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R" sz="1300" noProof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José Julián Rodríguez Chaves</a:t>
            </a:r>
            <a:endParaRPr lang="es-CR" sz="1300" noProof="0" dirty="0"/>
          </a:p>
        </p:txBody>
      </p:sp>
      <p:sp>
        <p:nvSpPr>
          <p:cNvPr id="10" name="Text 8"/>
          <p:cNvSpPr/>
          <p:nvPr/>
        </p:nvSpPr>
        <p:spPr>
          <a:xfrm>
            <a:off x="548640" y="4389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R" sz="1400" noProof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s-CR" sz="14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2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</a:t>
            </a:r>
            <a:endParaRPr lang="es-CR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3931920" cy="3931920"/>
          </a:xfrm>
          <a:prstGeom prst="roundRect">
            <a:avLst>
              <a:gd name="adj" fmla="val 2791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400" b="1" noProof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se realizó el proyecto y qué resuelve?</a:t>
            </a:r>
            <a:endParaRPr lang="es-CR" sz="1400" noProof="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CR" sz="13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se realizó para poner a prueba todos los temas vistos en clase, aplicándolos en una situación cotidiana y en la que realmente puede ser útil, sirviendo de ejemplo de un caso </a:t>
            </a:r>
            <a:r>
              <a:rPr lang="es-CR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y no solo ejercicio aislado.</a:t>
            </a:r>
          </a:p>
          <a:p>
            <a:pPr marL="0" indent="0" algn="l">
              <a:buNone/>
            </a:pPr>
            <a:endParaRPr lang="es-CR" sz="13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s-CR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el sistema sería más difícil recordar los préstamos realizados, los objetos prestados, quién los tiene y cuando se acaba el plazo de préstamo.</a:t>
            </a:r>
          </a:p>
          <a:p>
            <a:pPr marL="0" indent="0" algn="l">
              <a:buNone/>
            </a:pPr>
            <a:endParaRPr lang="es-CR" sz="1300" noProof="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s-CR" sz="13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llevar control de préstamos de diferentes ítems (libros, </a:t>
            </a:r>
            <a:r>
              <a:rPr lang="es-CR" sz="130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</a:t>
            </a:r>
            <a:r>
              <a:rPr lang="es-CR" sz="13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CR" sz="130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DVDs</a:t>
            </a:r>
            <a:r>
              <a:rPr lang="es-CR" sz="13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etc.) de manera ordenada.</a:t>
            </a:r>
            <a:endParaRPr lang="es-CR" sz="1300" noProof="0" dirty="0"/>
          </a:p>
        </p:txBody>
      </p:sp>
      <p:sp>
        <p:nvSpPr>
          <p:cNvPr id="7" name="Shape 5"/>
          <p:cNvSpPr/>
          <p:nvPr/>
        </p:nvSpPr>
        <p:spPr>
          <a:xfrm>
            <a:off x="4846320" y="777240"/>
            <a:ext cx="3931920" cy="3931920"/>
          </a:xfrm>
          <a:prstGeom prst="roundRect">
            <a:avLst>
              <a:gd name="adj" fmla="val 2791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8" name="Text 6"/>
          <p:cNvSpPr/>
          <p:nvPr/>
        </p:nvSpPr>
        <p:spPr>
          <a:xfrm>
            <a:off x="5074920" y="914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400" b="1" noProof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incluye el proyecto?</a:t>
            </a:r>
            <a:endParaRPr lang="es-CR" sz="1400" noProof="0" dirty="0"/>
          </a:p>
        </p:txBody>
      </p:sp>
      <p:sp>
        <p:nvSpPr>
          <p:cNvPr id="9" name="Text 7"/>
          <p:cNvSpPr/>
          <p:nvPr/>
        </p:nvSpPr>
        <p:spPr>
          <a:xfrm>
            <a:off x="5074920" y="137160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s-CR" sz="125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ítems, categorías y tipos</a:t>
            </a:r>
            <a:endParaRPr lang="es-CR" sz="1250" noProof="0" dirty="0"/>
          </a:p>
          <a:p>
            <a:pPr marL="342900" indent="-342900" algn="l">
              <a:buSzPct val="100000"/>
              <a:buChar char="•"/>
            </a:pPr>
            <a:r>
              <a:rPr lang="es-CR" sz="125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de usuarios (personas)</a:t>
            </a:r>
            <a:endParaRPr lang="es-CR" sz="1250" noProof="0" dirty="0"/>
          </a:p>
          <a:p>
            <a:pPr marL="342900" indent="-342900" algn="l">
              <a:buSzPct val="100000"/>
              <a:buChar char="•"/>
            </a:pPr>
            <a:r>
              <a:rPr lang="es-CR" sz="125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y finalización de préstamos</a:t>
            </a:r>
            <a:endParaRPr lang="es-CR" sz="1250" noProof="0" dirty="0"/>
          </a:p>
          <a:p>
            <a:pPr marL="342900" indent="-342900" algn="l">
              <a:buSzPct val="100000"/>
              <a:buChar char="•"/>
            </a:pPr>
            <a:r>
              <a:rPr lang="es-CR" sz="125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configurables por préstamo</a:t>
            </a:r>
            <a:endParaRPr lang="es-CR" sz="1250" noProof="0" dirty="0"/>
          </a:p>
          <a:p>
            <a:pPr marL="342900" indent="-342900" algn="l">
              <a:buSzPct val="100000"/>
              <a:buChar char="•"/>
            </a:pPr>
            <a:r>
              <a:rPr lang="es-CR" sz="125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4 tipos de reportes</a:t>
            </a:r>
            <a:endParaRPr lang="es-CR" sz="1250" noProof="0" dirty="0"/>
          </a:p>
          <a:p>
            <a:pPr marL="342900" indent="-342900" algn="l">
              <a:buSzPct val="100000"/>
              <a:buChar char="•"/>
            </a:pPr>
            <a:r>
              <a:rPr lang="es-CR" sz="125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de datos en disco</a:t>
            </a:r>
            <a:endParaRPr lang="es-CR" sz="1250" noProof="0" dirty="0"/>
          </a:p>
          <a:p>
            <a:pPr marL="342900" indent="-342900" algn="l">
              <a:buSzPct val="100000"/>
              <a:buChar char="•"/>
            </a:pPr>
            <a:r>
              <a:rPr lang="es-CR" sz="125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gráfica con Java Swing</a:t>
            </a:r>
            <a:endParaRPr lang="es-CR" sz="125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2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Descripción del problema</a:t>
            </a:r>
            <a:endParaRPr lang="es-CR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20624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CR" sz="1000" noProof="0" dirty="0"/>
          </a:p>
        </p:txBody>
      </p:sp>
      <p:sp>
        <p:nvSpPr>
          <p:cNvPr id="7" name="Text 5"/>
          <p:cNvSpPr/>
          <p:nvPr/>
        </p:nvSpPr>
        <p:spPr>
          <a:xfrm>
            <a:off x="1069848" y="8686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300" b="1" noProof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Administración de entidades</a:t>
            </a:r>
            <a:endParaRPr lang="es-CR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1069848" y="1216152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Crear, ver, editar y eliminar </a:t>
            </a:r>
            <a:r>
              <a:rPr lang="es-C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ítems, usuarios, categorías y tipos con validaciones.</a:t>
            </a:r>
            <a:endParaRPr lang="es-CR" sz="1100" noProof="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20624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1" name="Text 9"/>
          <p:cNvSpPr/>
          <p:nvPr/>
        </p:nvSpPr>
        <p:spPr>
          <a:xfrm>
            <a:off x="484632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CR" sz="1000" noProof="0" dirty="0"/>
          </a:p>
        </p:txBody>
      </p:sp>
      <p:sp>
        <p:nvSpPr>
          <p:cNvPr id="12" name="Text 10"/>
          <p:cNvSpPr/>
          <p:nvPr/>
        </p:nvSpPr>
        <p:spPr>
          <a:xfrm>
            <a:off x="5458968" y="8686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300" b="1" noProof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de disponibilidad</a:t>
            </a:r>
            <a:endParaRPr lang="es-CR" sz="1300" noProof="0" dirty="0"/>
          </a:p>
        </p:txBody>
      </p:sp>
      <p:sp>
        <p:nvSpPr>
          <p:cNvPr id="13" name="Text 11"/>
          <p:cNvSpPr/>
          <p:nvPr/>
        </p:nvSpPr>
        <p:spPr>
          <a:xfrm>
            <a:off x="5458968" y="1216152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en tiempo real si un ítem está disponible o prestado y a quién.</a:t>
            </a:r>
            <a:endParaRPr lang="es-CR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320040" y="2240280"/>
            <a:ext cx="420624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6" name="Text 14"/>
          <p:cNvSpPr/>
          <p:nvPr/>
        </p:nvSpPr>
        <p:spPr>
          <a:xfrm>
            <a:off x="45720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CR" sz="1000" noProof="0" dirty="0"/>
          </a:p>
        </p:txBody>
      </p:sp>
      <p:sp>
        <p:nvSpPr>
          <p:cNvPr id="17" name="Text 15"/>
          <p:cNvSpPr/>
          <p:nvPr/>
        </p:nvSpPr>
        <p:spPr>
          <a:xfrm>
            <a:off x="1069848" y="2331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300" b="1" noProof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préstamos</a:t>
            </a:r>
            <a:endParaRPr lang="es-CR" sz="1300" noProof="0" dirty="0"/>
          </a:p>
        </p:txBody>
      </p:sp>
      <p:sp>
        <p:nvSpPr>
          <p:cNvPr id="18" name="Text 16"/>
          <p:cNvSpPr/>
          <p:nvPr/>
        </p:nvSpPr>
        <p:spPr>
          <a:xfrm>
            <a:off x="1069848" y="2679192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préstamos con múltiples ítems, agregar/quitar ítems, finalizar préstamos.</a:t>
            </a:r>
            <a:endParaRPr lang="es-CR" sz="1100" noProof="0" dirty="0"/>
          </a:p>
        </p:txBody>
      </p:sp>
      <p:sp>
        <p:nvSpPr>
          <p:cNvPr id="19" name="Shape 17"/>
          <p:cNvSpPr/>
          <p:nvPr/>
        </p:nvSpPr>
        <p:spPr>
          <a:xfrm>
            <a:off x="4709160" y="2240280"/>
            <a:ext cx="420624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20" name="Shape 18"/>
          <p:cNvSpPr/>
          <p:nvPr/>
        </p:nvSpPr>
        <p:spPr>
          <a:xfrm>
            <a:off x="4846320" y="256032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1" name="Text 19"/>
          <p:cNvSpPr/>
          <p:nvPr/>
        </p:nvSpPr>
        <p:spPr>
          <a:xfrm>
            <a:off x="484632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CR" sz="1000" noProof="0" dirty="0"/>
          </a:p>
        </p:txBody>
      </p:sp>
      <p:sp>
        <p:nvSpPr>
          <p:cNvPr id="22" name="Text 20"/>
          <p:cNvSpPr/>
          <p:nvPr/>
        </p:nvSpPr>
        <p:spPr>
          <a:xfrm>
            <a:off x="5458968" y="2331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300" b="1" noProof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alertas</a:t>
            </a:r>
            <a:endParaRPr lang="es-CR" sz="1300" noProof="0" dirty="0"/>
          </a:p>
        </p:txBody>
      </p:sp>
      <p:sp>
        <p:nvSpPr>
          <p:cNvPr id="23" name="Text 21"/>
          <p:cNvSpPr/>
          <p:nvPr/>
        </p:nvSpPr>
        <p:spPr>
          <a:xfrm>
            <a:off x="5458968" y="2679192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una sola vez o recurrentes que se muestran al iniciar la aplicación.</a:t>
            </a:r>
            <a:endParaRPr lang="es-CR" sz="1100" noProof="0" dirty="0"/>
          </a:p>
        </p:txBody>
      </p:sp>
      <p:sp>
        <p:nvSpPr>
          <p:cNvPr id="24" name="Shape 22"/>
          <p:cNvSpPr/>
          <p:nvPr/>
        </p:nvSpPr>
        <p:spPr>
          <a:xfrm>
            <a:off x="320040" y="3703320"/>
            <a:ext cx="420624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25" name="Shape 23"/>
          <p:cNvSpPr/>
          <p:nvPr/>
        </p:nvSpPr>
        <p:spPr>
          <a:xfrm>
            <a:off x="457200" y="402336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6" name="Text 24"/>
          <p:cNvSpPr/>
          <p:nvPr/>
        </p:nvSpPr>
        <p:spPr>
          <a:xfrm>
            <a:off x="45720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s-CR" sz="1000" noProof="0" dirty="0"/>
          </a:p>
        </p:txBody>
      </p:sp>
      <p:sp>
        <p:nvSpPr>
          <p:cNvPr id="27" name="Text 25"/>
          <p:cNvSpPr/>
          <p:nvPr/>
        </p:nvSpPr>
        <p:spPr>
          <a:xfrm>
            <a:off x="1069848" y="37947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300" b="1" noProof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Generación de reportes</a:t>
            </a:r>
            <a:endParaRPr lang="es-CR" sz="1300" noProof="0" dirty="0"/>
          </a:p>
        </p:txBody>
      </p:sp>
      <p:sp>
        <p:nvSpPr>
          <p:cNvPr id="28" name="Text 26"/>
          <p:cNvSpPr/>
          <p:nvPr/>
        </p:nvSpPr>
        <p:spPr>
          <a:xfrm>
            <a:off x="1069848" y="4142232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por usuario, ítem, categoría y tipo, ordenados alfabéticamente.</a:t>
            </a:r>
            <a:endParaRPr lang="es-CR" sz="1100" noProof="0" dirty="0"/>
          </a:p>
        </p:txBody>
      </p:sp>
      <p:sp>
        <p:nvSpPr>
          <p:cNvPr id="29" name="Shape 27"/>
          <p:cNvSpPr/>
          <p:nvPr/>
        </p:nvSpPr>
        <p:spPr>
          <a:xfrm>
            <a:off x="4709160" y="3703320"/>
            <a:ext cx="420624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30" name="Shape 28"/>
          <p:cNvSpPr/>
          <p:nvPr/>
        </p:nvSpPr>
        <p:spPr>
          <a:xfrm>
            <a:off x="4846320" y="402336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1" name="Text 29"/>
          <p:cNvSpPr/>
          <p:nvPr/>
        </p:nvSpPr>
        <p:spPr>
          <a:xfrm>
            <a:off x="48463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s-CR" sz="1000" noProof="0" dirty="0"/>
          </a:p>
        </p:txBody>
      </p:sp>
      <p:sp>
        <p:nvSpPr>
          <p:cNvPr id="32" name="Text 30"/>
          <p:cNvSpPr/>
          <p:nvPr/>
        </p:nvSpPr>
        <p:spPr>
          <a:xfrm>
            <a:off x="5458968" y="37947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300" b="1" noProof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Ejecutar sin java</a:t>
            </a:r>
            <a:endParaRPr lang="es-CR" sz="1300" noProof="0" dirty="0"/>
          </a:p>
        </p:txBody>
      </p:sp>
      <p:sp>
        <p:nvSpPr>
          <p:cNvPr id="33" name="Text 31"/>
          <p:cNvSpPr/>
          <p:nvPr/>
        </p:nvSpPr>
        <p:spPr>
          <a:xfrm>
            <a:off x="5458968" y="4142232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Lograr que cualquier usuario pueda usar el programa sin necesidad de contar con java o el IDE de java instalados</a:t>
            </a:r>
            <a:endParaRPr lang="es-CR" sz="11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2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— Arquitectura en capas</a:t>
            </a:r>
            <a:endParaRPr lang="es-CR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1371600" y="749808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5" name="Text 3"/>
          <p:cNvSpPr/>
          <p:nvPr/>
        </p:nvSpPr>
        <p:spPr>
          <a:xfrm>
            <a:off x="1508760" y="795528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 de Interfaz</a:t>
            </a:r>
            <a:endParaRPr lang="es-CR" sz="1400" noProof="0" dirty="0"/>
          </a:p>
        </p:txBody>
      </p:sp>
      <p:sp>
        <p:nvSpPr>
          <p:cNvPr id="6" name="Text 4"/>
          <p:cNvSpPr/>
          <p:nvPr/>
        </p:nvSpPr>
        <p:spPr>
          <a:xfrm>
            <a:off x="1508760" y="1161288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100" noProof="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 · </a:t>
            </a:r>
            <a:r>
              <a:rPr lang="es-CR" sz="1100" noProof="0" dirty="0" err="1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pantallaXx</a:t>
            </a:r>
            <a:r>
              <a:rPr lang="es-CR" sz="1100" noProof="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s-CR" sz="1100" noProof="0" dirty="0" err="1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crearEditarXx</a:t>
            </a:r>
            <a:r>
              <a:rPr lang="es-CR" sz="1100" noProof="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s-CR" sz="1100" noProof="0" dirty="0" err="1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reporteXx</a:t>
            </a:r>
            <a:endParaRPr lang="es-CR" sz="1100" noProof="0" dirty="0"/>
          </a:p>
          <a:p>
            <a:pPr marL="0" indent="0" algn="ctr">
              <a:buNone/>
            </a:pPr>
            <a:r>
              <a:rPr lang="es-CR" sz="1100" noProof="0" dirty="0" err="1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Dialogs</a:t>
            </a:r>
            <a:r>
              <a:rPr lang="es-CR" sz="1100" noProof="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tablas, </a:t>
            </a:r>
            <a:r>
              <a:rPr lang="es-CR" sz="1100" noProof="0" dirty="0" err="1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comboBox</a:t>
            </a:r>
            <a:r>
              <a:rPr lang="es-CR" sz="1100" noProof="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mensajes al usuario</a:t>
            </a:r>
            <a:endParaRPr lang="es-CR" sz="1100" noProof="0" dirty="0"/>
          </a:p>
        </p:txBody>
      </p:sp>
      <p:sp>
        <p:nvSpPr>
          <p:cNvPr id="7" name="Shape 5"/>
          <p:cNvSpPr/>
          <p:nvPr/>
        </p:nvSpPr>
        <p:spPr>
          <a:xfrm>
            <a:off x="4434840" y="1892808"/>
            <a:ext cx="274320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8" name="Shape 6"/>
          <p:cNvSpPr/>
          <p:nvPr/>
        </p:nvSpPr>
        <p:spPr>
          <a:xfrm>
            <a:off x="1371600" y="2121408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9" name="Text 7"/>
          <p:cNvSpPr/>
          <p:nvPr/>
        </p:nvSpPr>
        <p:spPr>
          <a:xfrm>
            <a:off x="1508760" y="2167128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 de Control</a:t>
            </a:r>
            <a:endParaRPr lang="es-CR" sz="1400" noProof="0" dirty="0"/>
          </a:p>
        </p:txBody>
      </p:sp>
      <p:sp>
        <p:nvSpPr>
          <p:cNvPr id="10" name="Text 8"/>
          <p:cNvSpPr/>
          <p:nvPr/>
        </p:nvSpPr>
        <p:spPr>
          <a:xfrm>
            <a:off x="1508760" y="2532888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100" noProof="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Controladora (Singleton)</a:t>
            </a:r>
            <a:endParaRPr lang="es-CR" sz="1100" noProof="0" dirty="0"/>
          </a:p>
          <a:p>
            <a:pPr marL="0" indent="0" algn="ctr">
              <a:buNone/>
            </a:pPr>
            <a:r>
              <a:rPr lang="es-CR" sz="1100" noProof="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operaciones, conecta interfaz con lógica</a:t>
            </a:r>
          </a:p>
          <a:p>
            <a:pPr marL="0" indent="0" algn="ctr">
              <a:buNone/>
            </a:pPr>
            <a:r>
              <a:rPr lang="es-CR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y cargar datos</a:t>
            </a:r>
            <a:endParaRPr lang="es-CR" sz="1100" noProof="0" dirty="0"/>
          </a:p>
        </p:txBody>
      </p:sp>
      <p:sp>
        <p:nvSpPr>
          <p:cNvPr id="11" name="Shape 9"/>
          <p:cNvSpPr/>
          <p:nvPr/>
        </p:nvSpPr>
        <p:spPr>
          <a:xfrm>
            <a:off x="4434840" y="3264408"/>
            <a:ext cx="274320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2" name="Shape 10"/>
          <p:cNvSpPr/>
          <p:nvPr/>
        </p:nvSpPr>
        <p:spPr>
          <a:xfrm>
            <a:off x="1371600" y="3493008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3" name="Text 11"/>
          <p:cNvSpPr/>
          <p:nvPr/>
        </p:nvSpPr>
        <p:spPr>
          <a:xfrm>
            <a:off x="1508760" y="3538728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 de Lógica</a:t>
            </a:r>
            <a:endParaRPr lang="es-CR" sz="1400" noProof="0" dirty="0"/>
          </a:p>
        </p:txBody>
      </p:sp>
      <p:sp>
        <p:nvSpPr>
          <p:cNvPr id="14" name="Text 12"/>
          <p:cNvSpPr/>
          <p:nvPr/>
        </p:nvSpPr>
        <p:spPr>
          <a:xfrm>
            <a:off x="1508760" y="3904488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100" noProof="0" dirty="0" err="1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r>
              <a:rPr lang="es-CR" sz="1100" noProof="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Prestamo · Usuario · </a:t>
            </a:r>
            <a:r>
              <a:rPr lang="es-CR" sz="1100" noProof="0" dirty="0" err="1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r>
              <a:rPr lang="es-CR" sz="1100" noProof="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Tipo · Alerta</a:t>
            </a:r>
            <a:endParaRPr lang="es-CR" sz="11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2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clases de lógica</a:t>
            </a:r>
            <a:endParaRPr lang="es-CR" sz="2200" noProof="0" dirty="0"/>
          </a:p>
        </p:txBody>
      </p:sp>
      <p:sp>
        <p:nvSpPr>
          <p:cNvPr id="8" name="Shape 6"/>
          <p:cNvSpPr/>
          <p:nvPr/>
        </p:nvSpPr>
        <p:spPr>
          <a:xfrm>
            <a:off x="3383280" y="1045230"/>
            <a:ext cx="26517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9" name="Text 7"/>
          <p:cNvSpPr/>
          <p:nvPr/>
        </p:nvSpPr>
        <p:spPr>
          <a:xfrm>
            <a:off x="3383280" y="104523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1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Prestamo</a:t>
            </a:r>
            <a:endParaRPr lang="es-CR" sz="1100" noProof="0" dirty="0"/>
          </a:p>
        </p:txBody>
      </p:sp>
      <p:sp>
        <p:nvSpPr>
          <p:cNvPr id="10" name="Shape 8"/>
          <p:cNvSpPr/>
          <p:nvPr/>
        </p:nvSpPr>
        <p:spPr>
          <a:xfrm>
            <a:off x="3383280" y="1392702"/>
            <a:ext cx="2651760" cy="128016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1" name="Text 9"/>
          <p:cNvSpPr/>
          <p:nvPr/>
        </p:nvSpPr>
        <p:spPr>
          <a:xfrm>
            <a:off x="3474720" y="1438422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s-CR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</a:t>
            </a: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s-CR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s-CR" sz="11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usuario: Usuario</a:t>
            </a:r>
          </a:p>
          <a:p>
            <a:pPr marL="0" indent="0">
              <a:buNone/>
            </a:pP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s-CR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List&lt;</a:t>
            </a:r>
            <a:r>
              <a:rPr lang="es-CR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</a:p>
          <a:p>
            <a:pPr marL="0" indent="0">
              <a:buNone/>
            </a:pP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alerta: Alerta</a:t>
            </a:r>
          </a:p>
          <a:p>
            <a:pPr marL="0" indent="0">
              <a:buNone/>
            </a:pP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s-CR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fechaCreacion</a:t>
            </a: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s-CR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LocalDateTime</a:t>
            </a:r>
            <a:endParaRPr lang="es-CR" sz="11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1045230"/>
            <a:ext cx="25603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7" name="Text 15"/>
          <p:cNvSpPr/>
          <p:nvPr/>
        </p:nvSpPr>
        <p:spPr>
          <a:xfrm>
            <a:off x="457200" y="104523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1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Usuario</a:t>
            </a:r>
            <a:endParaRPr lang="es-CR" sz="1100" noProof="0" dirty="0"/>
          </a:p>
        </p:txBody>
      </p:sp>
      <p:sp>
        <p:nvSpPr>
          <p:cNvPr id="18" name="Shape 16"/>
          <p:cNvSpPr/>
          <p:nvPr/>
        </p:nvSpPr>
        <p:spPr>
          <a:xfrm>
            <a:off x="457200" y="1392702"/>
            <a:ext cx="2560320" cy="1042416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9" name="Text 17"/>
          <p:cNvSpPr/>
          <p:nvPr/>
        </p:nvSpPr>
        <p:spPr>
          <a:xfrm>
            <a:off x="548640" y="1438422"/>
            <a:ext cx="2377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nombre: String</a:t>
            </a:r>
          </a:p>
          <a:p>
            <a:pPr marL="0" indent="0">
              <a:buNone/>
            </a:pP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s-CR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telefono</a:t>
            </a: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String</a:t>
            </a:r>
          </a:p>
          <a:p>
            <a:pPr marL="0" indent="0">
              <a:buNone/>
            </a:pP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correo: String</a:t>
            </a:r>
          </a:p>
          <a:p>
            <a:pPr marL="0" indent="0">
              <a:buNone/>
            </a:pP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prestamos: List&lt;Prestamo&gt;</a:t>
            </a:r>
          </a:p>
        </p:txBody>
      </p:sp>
      <p:sp>
        <p:nvSpPr>
          <p:cNvPr id="20" name="Shape 18"/>
          <p:cNvSpPr/>
          <p:nvPr/>
        </p:nvSpPr>
        <p:spPr>
          <a:xfrm>
            <a:off x="6309360" y="1157772"/>
            <a:ext cx="26517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1" name="Text 19"/>
          <p:cNvSpPr/>
          <p:nvPr/>
        </p:nvSpPr>
        <p:spPr>
          <a:xfrm>
            <a:off x="6309360" y="11577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1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Alerta</a:t>
            </a:r>
            <a:endParaRPr lang="es-CR" sz="1100" noProof="0" dirty="0"/>
          </a:p>
        </p:txBody>
      </p:sp>
      <p:sp>
        <p:nvSpPr>
          <p:cNvPr id="22" name="Shape 20"/>
          <p:cNvSpPr/>
          <p:nvPr/>
        </p:nvSpPr>
        <p:spPr>
          <a:xfrm>
            <a:off x="6309360" y="1505244"/>
            <a:ext cx="2651760" cy="1042416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3" name="Text 21"/>
          <p:cNvSpPr/>
          <p:nvPr/>
        </p:nvSpPr>
        <p:spPr>
          <a:xfrm>
            <a:off x="6400800" y="1550964"/>
            <a:ext cx="246888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tipo: </a:t>
            </a:r>
            <a:r>
              <a:rPr lang="es-CR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TipoAlerta</a:t>
            </a:r>
            <a:endParaRPr lang="es-CR" sz="11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s-CR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fechaActivacion</a:t>
            </a: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s-CR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LocalDateTime</a:t>
            </a:r>
            <a:endParaRPr lang="es-CR" sz="11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mensaje: String</a:t>
            </a:r>
          </a:p>
          <a:p>
            <a:pPr marL="0" indent="0">
              <a:buNone/>
            </a:pP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s-CR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yaActivada</a:t>
            </a: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s-CR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s-CR" sz="11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309360" y="3300984"/>
            <a:ext cx="25603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5" name="Text 23"/>
          <p:cNvSpPr/>
          <p:nvPr/>
        </p:nvSpPr>
        <p:spPr>
          <a:xfrm>
            <a:off x="6309360" y="33009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100" b="1" noProof="0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Categoria</a:t>
            </a:r>
            <a:endParaRPr lang="es-CR" sz="1100" noProof="0" dirty="0"/>
          </a:p>
        </p:txBody>
      </p:sp>
      <p:sp>
        <p:nvSpPr>
          <p:cNvPr id="26" name="Shape 24"/>
          <p:cNvSpPr/>
          <p:nvPr/>
        </p:nvSpPr>
        <p:spPr>
          <a:xfrm>
            <a:off x="6309360" y="3648456"/>
            <a:ext cx="2560320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7" name="Text 25"/>
          <p:cNvSpPr/>
          <p:nvPr/>
        </p:nvSpPr>
        <p:spPr>
          <a:xfrm>
            <a:off x="6400800" y="3694176"/>
            <a:ext cx="23774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s-CR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</a:t>
            </a: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s-CR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s-CR" sz="11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nombre: String</a:t>
            </a:r>
          </a:p>
          <a:p>
            <a:pPr marL="0" indent="0">
              <a:buNone/>
            </a:pP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s-CR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List&lt;</a:t>
            </a:r>
            <a:r>
              <a:rPr lang="es-CR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C87D074E-E073-617A-6988-3E59251DC8A0}"/>
              </a:ext>
            </a:extLst>
          </p:cNvPr>
          <p:cNvSpPr/>
          <p:nvPr/>
        </p:nvSpPr>
        <p:spPr>
          <a:xfrm>
            <a:off x="457200" y="3300984"/>
            <a:ext cx="25603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1AEAAF17-C056-BF13-A6C8-3BCAEDC83D0E}"/>
              </a:ext>
            </a:extLst>
          </p:cNvPr>
          <p:cNvSpPr/>
          <p:nvPr/>
        </p:nvSpPr>
        <p:spPr>
          <a:xfrm>
            <a:off x="457200" y="33009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1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</a:t>
            </a:r>
            <a:endParaRPr lang="es-CR" sz="1100" noProof="0" dirty="0"/>
          </a:p>
        </p:txBody>
      </p:sp>
      <p:sp>
        <p:nvSpPr>
          <p:cNvPr id="33" name="Shape 24">
            <a:extLst>
              <a:ext uri="{FF2B5EF4-FFF2-40B4-BE49-F238E27FC236}">
                <a16:creationId xmlns:a16="http://schemas.microsoft.com/office/drawing/2014/main" id="{270CA841-509F-2E8C-2B1B-44F4CD0C906E}"/>
              </a:ext>
            </a:extLst>
          </p:cNvPr>
          <p:cNvSpPr/>
          <p:nvPr/>
        </p:nvSpPr>
        <p:spPr>
          <a:xfrm>
            <a:off x="457200" y="3648456"/>
            <a:ext cx="2560320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9CBF98D1-4801-069F-CF32-26CD853A8BAC}"/>
              </a:ext>
            </a:extLst>
          </p:cNvPr>
          <p:cNvSpPr/>
          <p:nvPr/>
        </p:nvSpPr>
        <p:spPr>
          <a:xfrm>
            <a:off x="548640" y="3694176"/>
            <a:ext cx="23774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s-CR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</a:t>
            </a: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s-CR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s-CR" sz="11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nombre: String</a:t>
            </a:r>
          </a:p>
          <a:p>
            <a:pPr marL="0" indent="0">
              <a:buNone/>
            </a:pP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s-CR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List&lt;</a:t>
            </a:r>
            <a:r>
              <a:rPr lang="es-CR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6DB7BAFC-82D7-4C45-4E05-C8E4A095D8A2}"/>
              </a:ext>
            </a:extLst>
          </p:cNvPr>
          <p:cNvCxnSpPr/>
          <p:nvPr/>
        </p:nvCxnSpPr>
        <p:spPr>
          <a:xfrm>
            <a:off x="3066757" y="1899138"/>
            <a:ext cx="316523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Shape 10">
            <a:extLst>
              <a:ext uri="{FF2B5EF4-FFF2-40B4-BE49-F238E27FC236}">
                <a16:creationId xmlns:a16="http://schemas.microsoft.com/office/drawing/2014/main" id="{67C7011A-72F1-35B0-B5B6-824E0E3C8810}"/>
              </a:ext>
            </a:extLst>
          </p:cNvPr>
          <p:cNvSpPr/>
          <p:nvPr/>
        </p:nvSpPr>
        <p:spPr>
          <a:xfrm>
            <a:off x="3429000" y="2953512"/>
            <a:ext cx="25603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51" name="Text 11">
            <a:extLst>
              <a:ext uri="{FF2B5EF4-FFF2-40B4-BE49-F238E27FC236}">
                <a16:creationId xmlns:a16="http://schemas.microsoft.com/office/drawing/2014/main" id="{C75561C2-76EB-B199-5FF4-9063584D3445}"/>
              </a:ext>
            </a:extLst>
          </p:cNvPr>
          <p:cNvSpPr/>
          <p:nvPr/>
        </p:nvSpPr>
        <p:spPr>
          <a:xfrm>
            <a:off x="3429000" y="29535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100" b="1" noProof="0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</a:t>
            </a:r>
            <a:endParaRPr lang="es-CR" sz="1100" noProof="0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CD90845C-82A2-41E1-A83E-C2FC645EC0F8}"/>
              </a:ext>
            </a:extLst>
          </p:cNvPr>
          <p:cNvSpPr/>
          <p:nvPr/>
        </p:nvSpPr>
        <p:spPr>
          <a:xfrm>
            <a:off x="3429000" y="3300984"/>
            <a:ext cx="2560320" cy="1517904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55" name="Text 13">
            <a:extLst>
              <a:ext uri="{FF2B5EF4-FFF2-40B4-BE49-F238E27FC236}">
                <a16:creationId xmlns:a16="http://schemas.microsoft.com/office/drawing/2014/main" id="{D9447CDD-F2BD-2D20-D113-D99C1ED4A252}"/>
              </a:ext>
            </a:extLst>
          </p:cNvPr>
          <p:cNvSpPr/>
          <p:nvPr/>
        </p:nvSpPr>
        <p:spPr>
          <a:xfrm>
            <a:off x="3520440" y="3346704"/>
            <a:ext cx="237744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s-CR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</a:t>
            </a: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s-CR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s-CR" sz="11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nombre: String</a:t>
            </a:r>
          </a:p>
          <a:p>
            <a:pPr marL="0" indent="0">
              <a:buNone/>
            </a:pP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s-CR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descripcion</a:t>
            </a: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String</a:t>
            </a:r>
          </a:p>
          <a:p>
            <a:pPr marL="0" indent="0">
              <a:buNone/>
            </a:pP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prestado: </a:t>
            </a:r>
            <a:r>
              <a:rPr lang="es-CR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s-CR" sz="11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tipo: Tipo</a:t>
            </a:r>
          </a:p>
          <a:p>
            <a:pPr marL="0" indent="0">
              <a:buNone/>
            </a:pP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s-CR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</a:t>
            </a: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List&lt;</a:t>
            </a:r>
            <a:r>
              <a:rPr lang="es-CR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</a:p>
        </p:txBody>
      </p: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E586BF50-44CA-5B33-922C-A041068ED1E7}"/>
              </a:ext>
            </a:extLst>
          </p:cNvPr>
          <p:cNvCxnSpPr>
            <a:cxnSpLocks/>
          </p:cNvCxnSpPr>
          <p:nvPr/>
        </p:nvCxnSpPr>
        <p:spPr>
          <a:xfrm>
            <a:off x="6035040" y="1950486"/>
            <a:ext cx="274320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49A0C9DD-BD08-CA17-9190-9B47A29E4D6B}"/>
              </a:ext>
            </a:extLst>
          </p:cNvPr>
          <p:cNvCxnSpPr>
            <a:stCxn id="10" idx="2"/>
            <a:endCxn id="51" idx="0"/>
          </p:cNvCxnSpPr>
          <p:nvPr/>
        </p:nvCxnSpPr>
        <p:spPr>
          <a:xfrm>
            <a:off x="4709160" y="2672862"/>
            <a:ext cx="0" cy="28065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C671C06B-CBCD-A092-4D82-B2E04391A669}"/>
              </a:ext>
            </a:extLst>
          </p:cNvPr>
          <p:cNvCxnSpPr>
            <a:stCxn id="53" idx="1"/>
            <a:endCxn id="33" idx="3"/>
          </p:cNvCxnSpPr>
          <p:nvPr/>
        </p:nvCxnSpPr>
        <p:spPr>
          <a:xfrm flipH="1" flipV="1">
            <a:off x="3017520" y="4050792"/>
            <a:ext cx="411480" cy="9144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9AE10FF4-2DCC-B8D5-1B61-4BD47F0A18AB}"/>
              </a:ext>
            </a:extLst>
          </p:cNvPr>
          <p:cNvCxnSpPr>
            <a:stCxn id="53" idx="3"/>
            <a:endCxn id="26" idx="1"/>
          </p:cNvCxnSpPr>
          <p:nvPr/>
        </p:nvCxnSpPr>
        <p:spPr>
          <a:xfrm flipV="1">
            <a:off x="5989320" y="4050792"/>
            <a:ext cx="320040" cy="9144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2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— Solución técnica</a:t>
            </a:r>
            <a:endParaRPr lang="es-CR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20624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42062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7680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Crear, </a:t>
            </a:r>
            <a:r>
              <a:rPr lang="es-CR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ver, editar y borrar </a:t>
            </a:r>
            <a:r>
              <a:rPr lang="es-C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</a:t>
            </a:r>
            <a:endParaRPr lang="es-CR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115214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Controladora con métodos </a:t>
            </a:r>
            <a:r>
              <a:rPr lang="es-CR" sz="110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crearX</a:t>
            </a: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s-CR" sz="110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modificarX</a:t>
            </a: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s-CR" sz="110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borrarX</a:t>
            </a: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s-CR" sz="110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consultarX</a:t>
            </a: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Validaciones en la interfaz antes de llamar al controlador.</a:t>
            </a:r>
            <a:endParaRPr lang="es-CR" sz="1100" noProof="0" dirty="0"/>
          </a:p>
        </p:txBody>
      </p:sp>
      <p:sp>
        <p:nvSpPr>
          <p:cNvPr id="8" name="Shape 6"/>
          <p:cNvSpPr/>
          <p:nvPr/>
        </p:nvSpPr>
        <p:spPr>
          <a:xfrm>
            <a:off x="4709160" y="749808"/>
            <a:ext cx="420624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9" name="Shape 7"/>
          <p:cNvSpPr/>
          <p:nvPr/>
        </p:nvSpPr>
        <p:spPr>
          <a:xfrm>
            <a:off x="4709160" y="749808"/>
            <a:ext cx="42062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0" name="Text 8"/>
          <p:cNvSpPr/>
          <p:nvPr/>
        </p:nvSpPr>
        <p:spPr>
          <a:xfrm>
            <a:off x="4846320" y="7680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de ítems</a:t>
            </a:r>
            <a:endParaRPr lang="es-CR" sz="1200" noProof="0" dirty="0"/>
          </a:p>
        </p:txBody>
      </p:sp>
      <p:sp>
        <p:nvSpPr>
          <p:cNvPr id="11" name="Text 9"/>
          <p:cNvSpPr/>
          <p:nvPr/>
        </p:nvSpPr>
        <p:spPr>
          <a:xfrm>
            <a:off x="4846320" y="115214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Bandera prestado en </a:t>
            </a:r>
            <a:r>
              <a:rPr lang="es-CR" sz="110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s-CR" sz="110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marcarComoPrestado</a:t>
            </a: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/ </a:t>
            </a:r>
            <a:r>
              <a:rPr lang="es-CR" sz="110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marcarComoLibre</a:t>
            </a: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se invocan al agregar/quitar del Prestamo.</a:t>
            </a:r>
            <a:endParaRPr lang="es-CR" sz="1100" noProof="0" dirty="0"/>
          </a:p>
        </p:txBody>
      </p:sp>
      <p:sp>
        <p:nvSpPr>
          <p:cNvPr id="12" name="Shape 10"/>
          <p:cNvSpPr/>
          <p:nvPr/>
        </p:nvSpPr>
        <p:spPr>
          <a:xfrm>
            <a:off x="320040" y="2167128"/>
            <a:ext cx="420624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13" name="Shape 11"/>
          <p:cNvSpPr/>
          <p:nvPr/>
        </p:nvSpPr>
        <p:spPr>
          <a:xfrm>
            <a:off x="320040" y="2167128"/>
            <a:ext cx="42062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4" name="Text 12"/>
          <p:cNvSpPr/>
          <p:nvPr/>
        </p:nvSpPr>
        <p:spPr>
          <a:xfrm>
            <a:off x="457200" y="218541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préstamos</a:t>
            </a:r>
            <a:endParaRPr lang="es-CR" sz="1200" noProof="0" dirty="0"/>
          </a:p>
        </p:txBody>
      </p:sp>
      <p:sp>
        <p:nvSpPr>
          <p:cNvPr id="15" name="Text 13"/>
          <p:cNvSpPr/>
          <p:nvPr/>
        </p:nvSpPr>
        <p:spPr>
          <a:xfrm>
            <a:off x="457200" y="256946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Prestamo agrega </a:t>
            </a:r>
            <a:r>
              <a:rPr lang="es-CR" sz="110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los marca. Al finalizar, Prestamo libera todos sus ítems y se elimina del sistema.</a:t>
            </a:r>
            <a:endParaRPr lang="es-CR" sz="1100" noProof="0" dirty="0"/>
          </a:p>
        </p:txBody>
      </p:sp>
      <p:sp>
        <p:nvSpPr>
          <p:cNvPr id="16" name="Shape 14"/>
          <p:cNvSpPr/>
          <p:nvPr/>
        </p:nvSpPr>
        <p:spPr>
          <a:xfrm>
            <a:off x="4709160" y="2167128"/>
            <a:ext cx="420624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17" name="Shape 15"/>
          <p:cNvSpPr/>
          <p:nvPr/>
        </p:nvSpPr>
        <p:spPr>
          <a:xfrm>
            <a:off x="4709160" y="2167128"/>
            <a:ext cx="42062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8" name="Text 16"/>
          <p:cNvSpPr/>
          <p:nvPr/>
        </p:nvSpPr>
        <p:spPr>
          <a:xfrm>
            <a:off x="4846320" y="218541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s-CR" sz="1200" noProof="0" dirty="0"/>
          </a:p>
        </p:txBody>
      </p:sp>
      <p:sp>
        <p:nvSpPr>
          <p:cNvPr id="19" name="Text 17"/>
          <p:cNvSpPr/>
          <p:nvPr/>
        </p:nvSpPr>
        <p:spPr>
          <a:xfrm>
            <a:off x="4846320" y="256946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Alerta con </a:t>
            </a:r>
            <a:r>
              <a:rPr lang="es-CR" sz="110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TipoAlerta</a:t>
            </a: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(UNA_VEZ / RECURRENTE). </a:t>
            </a:r>
            <a:r>
              <a:rPr lang="es-CR" sz="110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debeActivarse</a:t>
            </a: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evalúa fecha y si ya fue activada. Se verifica al abrir la app.</a:t>
            </a:r>
            <a:endParaRPr lang="es-CR" sz="1100" noProof="0" dirty="0"/>
          </a:p>
        </p:txBody>
      </p:sp>
      <p:sp>
        <p:nvSpPr>
          <p:cNvPr id="20" name="Shape 18"/>
          <p:cNvSpPr/>
          <p:nvPr/>
        </p:nvSpPr>
        <p:spPr>
          <a:xfrm>
            <a:off x="320040" y="3584448"/>
            <a:ext cx="420624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21" name="Shape 19"/>
          <p:cNvSpPr/>
          <p:nvPr/>
        </p:nvSpPr>
        <p:spPr>
          <a:xfrm>
            <a:off x="320040" y="3584448"/>
            <a:ext cx="42062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2" name="Text 20"/>
          <p:cNvSpPr/>
          <p:nvPr/>
        </p:nvSpPr>
        <p:spPr>
          <a:xfrm>
            <a:off x="457200" y="36027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s-CR" sz="1200" noProof="0" dirty="0"/>
          </a:p>
        </p:txBody>
      </p:sp>
      <p:sp>
        <p:nvSpPr>
          <p:cNvPr id="23" name="Text 21"/>
          <p:cNvSpPr/>
          <p:nvPr/>
        </p:nvSpPr>
        <p:spPr>
          <a:xfrm>
            <a:off x="457200" y="398678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</a:t>
            </a:r>
            <a:r>
              <a:rPr lang="es-CR" sz="110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reporteX</a:t>
            </a: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en Controladora retornan listas ordenadas con </a:t>
            </a:r>
            <a:r>
              <a:rPr lang="es-CR" sz="110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</a:t>
            </a: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Se muestran ordenadas en </a:t>
            </a:r>
            <a:r>
              <a:rPr lang="es-CR" sz="110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JTable</a:t>
            </a: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CR" sz="1100" noProof="0" dirty="0"/>
          </a:p>
        </p:txBody>
      </p:sp>
      <p:sp>
        <p:nvSpPr>
          <p:cNvPr id="24" name="Shape 22"/>
          <p:cNvSpPr/>
          <p:nvPr/>
        </p:nvSpPr>
        <p:spPr>
          <a:xfrm>
            <a:off x="4709160" y="3584448"/>
            <a:ext cx="420624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25" name="Shape 23"/>
          <p:cNvSpPr/>
          <p:nvPr/>
        </p:nvSpPr>
        <p:spPr>
          <a:xfrm>
            <a:off x="4709160" y="3584448"/>
            <a:ext cx="42062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6" name="Text 24"/>
          <p:cNvSpPr/>
          <p:nvPr/>
        </p:nvSpPr>
        <p:spPr>
          <a:xfrm>
            <a:off x="4846320" y="36027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s-CR" sz="1200" noProof="0" dirty="0"/>
          </a:p>
        </p:txBody>
      </p:sp>
      <p:sp>
        <p:nvSpPr>
          <p:cNvPr id="27" name="Text 25"/>
          <p:cNvSpPr/>
          <p:nvPr/>
        </p:nvSpPr>
        <p:spPr>
          <a:xfrm>
            <a:off x="4846320" y="398678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Serialización Java (</a:t>
            </a:r>
            <a:r>
              <a:rPr lang="es-CR" sz="110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ObjectOutputStream</a:t>
            </a: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s-CR" sz="110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ObjectInputStream</a:t>
            </a: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del </a:t>
            </a:r>
            <a:r>
              <a:rPr lang="es-CR" sz="110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</a:t>
            </a: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Controladora al cerrar/abrir la ventana principal.</a:t>
            </a:r>
            <a:endParaRPr lang="es-CR" sz="11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2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Colecciones, patrones y bibliotecas</a:t>
            </a:r>
            <a:endParaRPr lang="es-CR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1261872"/>
          </a:xfrm>
          <a:prstGeom prst="roundRect">
            <a:avLst>
              <a:gd name="adj" fmla="val 7246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347472" cy="12618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6" name="Text 4"/>
          <p:cNvSpPr/>
          <p:nvPr/>
        </p:nvSpPr>
        <p:spPr>
          <a:xfrm>
            <a:off x="804672" y="81381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300" b="1" noProof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Colecciones utilizadas</a:t>
            </a:r>
            <a:endParaRPr lang="es-CR" sz="1300" noProof="0" dirty="0"/>
          </a:p>
        </p:txBody>
      </p:sp>
      <p:sp>
        <p:nvSpPr>
          <p:cNvPr id="7" name="Text 5"/>
          <p:cNvSpPr/>
          <p:nvPr/>
        </p:nvSpPr>
        <p:spPr>
          <a:xfrm>
            <a:off x="804672" y="1170432"/>
            <a:ext cx="7818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s-CR" sz="110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</a:t>
            </a: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&lt;T&gt; — para prestamos, usuarios, </a:t>
            </a:r>
            <a:r>
              <a:rPr lang="es-CR" sz="110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</a:t>
            </a: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tipos, </a:t>
            </a:r>
            <a:r>
              <a:rPr lang="es-CR" sz="110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endParaRPr lang="es-CR" sz="1100" noProof="0" dirty="0"/>
          </a:p>
          <a:p>
            <a:pPr marL="342900" indent="-342900">
              <a:buSzPct val="100000"/>
              <a:buChar char="•"/>
            </a:pP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</a:t>
            </a:r>
            <a:r>
              <a:rPr lang="es-CR" sz="110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dentro de Prestamo, Tipo y </a:t>
            </a:r>
            <a:r>
              <a:rPr lang="es-CR" sz="110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endParaRPr lang="es-CR" sz="1100" noProof="0" dirty="0"/>
          </a:p>
          <a:p>
            <a:pPr marL="342900" indent="-342900">
              <a:buSzPct val="100000"/>
              <a:buChar char="•"/>
            </a:pP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List&lt;Prestamo&gt; dentro de Usuario</a:t>
            </a:r>
            <a:endParaRPr lang="es-CR" sz="1100" noProof="0" dirty="0"/>
          </a:p>
          <a:p>
            <a:pPr marL="342900" indent="-342900">
              <a:buSzPct val="100000"/>
              <a:buChar char="•"/>
            </a:pP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y </a:t>
            </a:r>
            <a:r>
              <a:rPr lang="es-CR" sz="110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</a:t>
            </a: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ordenar alfabéticamente</a:t>
            </a:r>
            <a:endParaRPr lang="es-CR" sz="1100" noProof="0" dirty="0"/>
          </a:p>
        </p:txBody>
      </p:sp>
      <p:sp>
        <p:nvSpPr>
          <p:cNvPr id="8" name="Shape 6"/>
          <p:cNvSpPr/>
          <p:nvPr/>
        </p:nvSpPr>
        <p:spPr>
          <a:xfrm>
            <a:off x="320040" y="2167128"/>
            <a:ext cx="8503920" cy="1261872"/>
          </a:xfrm>
          <a:prstGeom prst="roundRect">
            <a:avLst>
              <a:gd name="adj" fmla="val 7246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9" name="Shape 7"/>
          <p:cNvSpPr/>
          <p:nvPr/>
        </p:nvSpPr>
        <p:spPr>
          <a:xfrm>
            <a:off x="320040" y="2167128"/>
            <a:ext cx="347472" cy="1261872"/>
          </a:xfrm>
          <a:prstGeom prst="roundRect">
            <a:avLst>
              <a:gd name="adj" fmla="val 1315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0" name="Text 8"/>
          <p:cNvSpPr/>
          <p:nvPr/>
        </p:nvSpPr>
        <p:spPr>
          <a:xfrm>
            <a:off x="804672" y="223113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300" b="1" noProof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Patrones de diseño</a:t>
            </a:r>
            <a:endParaRPr lang="es-CR" sz="1300" noProof="0" dirty="0"/>
          </a:p>
        </p:txBody>
      </p:sp>
      <p:sp>
        <p:nvSpPr>
          <p:cNvPr id="11" name="Text 9"/>
          <p:cNvSpPr/>
          <p:nvPr/>
        </p:nvSpPr>
        <p:spPr>
          <a:xfrm>
            <a:off x="804672" y="2587752"/>
            <a:ext cx="7818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— Controladora (instancia única accesible globalmente)</a:t>
            </a:r>
            <a:endParaRPr lang="es-CR" sz="1100" noProof="0" dirty="0"/>
          </a:p>
        </p:txBody>
      </p:sp>
      <p:sp>
        <p:nvSpPr>
          <p:cNvPr id="12" name="Shape 10"/>
          <p:cNvSpPr/>
          <p:nvPr/>
        </p:nvSpPr>
        <p:spPr>
          <a:xfrm>
            <a:off x="320040" y="3584448"/>
            <a:ext cx="8503920" cy="1261872"/>
          </a:xfrm>
          <a:prstGeom prst="roundRect">
            <a:avLst>
              <a:gd name="adj" fmla="val 7246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13" name="Shape 11"/>
          <p:cNvSpPr/>
          <p:nvPr/>
        </p:nvSpPr>
        <p:spPr>
          <a:xfrm>
            <a:off x="320040" y="3584448"/>
            <a:ext cx="347472" cy="1261872"/>
          </a:xfrm>
          <a:prstGeom prst="roundRect">
            <a:avLst>
              <a:gd name="adj" fmla="val 1315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4" name="Text 12"/>
          <p:cNvSpPr/>
          <p:nvPr/>
        </p:nvSpPr>
        <p:spPr>
          <a:xfrm>
            <a:off x="804672" y="364845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300" b="1" noProof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Bibliotecas y </a:t>
            </a:r>
            <a:r>
              <a:rPr lang="es-CR" sz="1300" b="1" noProof="0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APIs</a:t>
            </a:r>
            <a:endParaRPr lang="es-CR" sz="1300" noProof="0" dirty="0"/>
          </a:p>
        </p:txBody>
      </p:sp>
      <p:sp>
        <p:nvSpPr>
          <p:cNvPr id="15" name="Text 13"/>
          <p:cNvSpPr/>
          <p:nvPr/>
        </p:nvSpPr>
        <p:spPr>
          <a:xfrm>
            <a:off x="804672" y="4005072"/>
            <a:ext cx="7818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 — toda la interfaz gráfica (</a:t>
            </a:r>
            <a:r>
              <a:rPr lang="es-CR" sz="110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JDialog</a:t>
            </a: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CR" sz="110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JTable</a:t>
            </a: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CR" sz="110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JComboBox</a:t>
            </a: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…)</a:t>
            </a:r>
            <a:endParaRPr lang="es-CR" sz="1100" noProof="0" dirty="0"/>
          </a:p>
          <a:p>
            <a:pPr marL="342900" indent="-342900">
              <a:buSzPct val="100000"/>
              <a:buChar char="•"/>
            </a:pP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java.io </a:t>
            </a:r>
            <a:r>
              <a:rPr lang="es-CR" sz="110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Serializable</a:t>
            </a: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persistencia completa por serialización</a:t>
            </a:r>
            <a:endParaRPr lang="es-CR" sz="1100" noProof="0" dirty="0"/>
          </a:p>
          <a:p>
            <a:pPr marL="342900" indent="-342900">
              <a:buSzPct val="100000"/>
              <a:buChar char="•"/>
            </a:pPr>
            <a:r>
              <a:rPr lang="es-CR" sz="110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java.time.LocalDateTime</a:t>
            </a: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fechas de creación y alertas</a:t>
            </a:r>
            <a:endParaRPr lang="es-CR" sz="1100" noProof="0" dirty="0"/>
          </a:p>
          <a:p>
            <a:pPr marL="342900" indent="-342900">
              <a:buSzPct val="100000"/>
              <a:buChar char="•"/>
            </a:pPr>
            <a:r>
              <a:rPr lang="es-CR" sz="110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java.util.Comparator</a:t>
            </a: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ordenación de reportes</a:t>
            </a:r>
            <a:endParaRPr lang="es-CR" sz="11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2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crítico — ¿Qué se logró?</a:t>
            </a:r>
            <a:endParaRPr lang="es-CR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5" name="Shape 3"/>
          <p:cNvSpPr/>
          <p:nvPr/>
        </p:nvSpPr>
        <p:spPr>
          <a:xfrm>
            <a:off x="429768" y="932688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6" name="Text 4"/>
          <p:cNvSpPr/>
          <p:nvPr/>
        </p:nvSpPr>
        <p:spPr>
          <a:xfrm>
            <a:off x="429768" y="932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s-CR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941832" y="822960"/>
            <a:ext cx="3474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Crear, ver, editar y borrar los </a:t>
            </a: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ítems, usuarios, categorías y tipos con validaciones.</a:t>
            </a:r>
            <a:endParaRPr lang="es-CR" sz="1100" noProof="0" dirty="0"/>
          </a:p>
        </p:txBody>
      </p:sp>
      <p:sp>
        <p:nvSpPr>
          <p:cNvPr id="8" name="Shape 6"/>
          <p:cNvSpPr/>
          <p:nvPr/>
        </p:nvSpPr>
        <p:spPr>
          <a:xfrm>
            <a:off x="320040" y="1801368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9" name="Shape 7"/>
          <p:cNvSpPr/>
          <p:nvPr/>
        </p:nvSpPr>
        <p:spPr>
          <a:xfrm>
            <a:off x="429768" y="1984248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0" name="Text 8"/>
          <p:cNvSpPr/>
          <p:nvPr/>
        </p:nvSpPr>
        <p:spPr>
          <a:xfrm>
            <a:off x="429768" y="1984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s-CR" sz="1200" noProof="0" dirty="0"/>
          </a:p>
        </p:txBody>
      </p:sp>
      <p:sp>
        <p:nvSpPr>
          <p:cNvPr id="11" name="Text 9"/>
          <p:cNvSpPr/>
          <p:nvPr/>
        </p:nvSpPr>
        <p:spPr>
          <a:xfrm>
            <a:off x="941832" y="1874520"/>
            <a:ext cx="3474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préstamos con múltiples ítems, el sistema impide prestar ítems ya ocupados.</a:t>
            </a:r>
            <a:endParaRPr lang="es-CR" sz="1100" noProof="0" dirty="0"/>
          </a:p>
        </p:txBody>
      </p:sp>
      <p:sp>
        <p:nvSpPr>
          <p:cNvPr id="12" name="Shape 10"/>
          <p:cNvSpPr/>
          <p:nvPr/>
        </p:nvSpPr>
        <p:spPr>
          <a:xfrm>
            <a:off x="320040" y="2852928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13" name="Shape 11"/>
          <p:cNvSpPr/>
          <p:nvPr/>
        </p:nvSpPr>
        <p:spPr>
          <a:xfrm>
            <a:off x="429768" y="3035808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4" name="Text 12"/>
          <p:cNvSpPr/>
          <p:nvPr/>
        </p:nvSpPr>
        <p:spPr>
          <a:xfrm>
            <a:off x="429768" y="3035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s-CR" sz="1200" noProof="0" dirty="0"/>
          </a:p>
        </p:txBody>
      </p:sp>
      <p:sp>
        <p:nvSpPr>
          <p:cNvPr id="15" name="Text 13"/>
          <p:cNvSpPr/>
          <p:nvPr/>
        </p:nvSpPr>
        <p:spPr>
          <a:xfrm>
            <a:off x="941832" y="2926080"/>
            <a:ext cx="3474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borrar un tipo, sus ítems migran automáticamente al tipo genérico.</a:t>
            </a:r>
            <a:endParaRPr lang="es-CR" sz="1100" noProof="0" dirty="0"/>
          </a:p>
        </p:txBody>
      </p:sp>
      <p:sp>
        <p:nvSpPr>
          <p:cNvPr id="16" name="Shape 14"/>
          <p:cNvSpPr/>
          <p:nvPr/>
        </p:nvSpPr>
        <p:spPr>
          <a:xfrm>
            <a:off x="320040" y="3904488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17" name="Shape 15"/>
          <p:cNvSpPr/>
          <p:nvPr/>
        </p:nvSpPr>
        <p:spPr>
          <a:xfrm>
            <a:off x="429768" y="4087368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8" name="Text 16"/>
          <p:cNvSpPr/>
          <p:nvPr/>
        </p:nvSpPr>
        <p:spPr>
          <a:xfrm>
            <a:off x="429768" y="4087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s-CR" sz="1200" noProof="0" dirty="0"/>
          </a:p>
        </p:txBody>
      </p:sp>
      <p:sp>
        <p:nvSpPr>
          <p:cNvPr id="19" name="Text 17"/>
          <p:cNvSpPr/>
          <p:nvPr/>
        </p:nvSpPr>
        <p:spPr>
          <a:xfrm>
            <a:off x="941832" y="3977640"/>
            <a:ext cx="3474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alertas (una vez / recurrente) verificadas al abrir la aplicación.</a:t>
            </a:r>
            <a:endParaRPr lang="es-CR" sz="1100" noProof="0" dirty="0"/>
          </a:p>
        </p:txBody>
      </p:sp>
      <p:sp>
        <p:nvSpPr>
          <p:cNvPr id="20" name="Shape 18"/>
          <p:cNvSpPr/>
          <p:nvPr/>
        </p:nvSpPr>
        <p:spPr>
          <a:xfrm>
            <a:off x="4709160" y="749808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21" name="Shape 19"/>
          <p:cNvSpPr/>
          <p:nvPr/>
        </p:nvSpPr>
        <p:spPr>
          <a:xfrm>
            <a:off x="4818888" y="932688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2" name="Text 20"/>
          <p:cNvSpPr/>
          <p:nvPr/>
        </p:nvSpPr>
        <p:spPr>
          <a:xfrm>
            <a:off x="4818888" y="932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s-CR" sz="1200" noProof="0" dirty="0"/>
          </a:p>
        </p:txBody>
      </p:sp>
      <p:sp>
        <p:nvSpPr>
          <p:cNvPr id="23" name="Text 21"/>
          <p:cNvSpPr/>
          <p:nvPr/>
        </p:nvSpPr>
        <p:spPr>
          <a:xfrm>
            <a:off x="5330952" y="822960"/>
            <a:ext cx="3474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tipos de reporte ordenados alfabéticamente (usuario, ítem, categoría, tipo).</a:t>
            </a:r>
            <a:endParaRPr lang="es-CR" sz="1100" noProof="0" dirty="0"/>
          </a:p>
        </p:txBody>
      </p:sp>
      <p:sp>
        <p:nvSpPr>
          <p:cNvPr id="24" name="Shape 22"/>
          <p:cNvSpPr/>
          <p:nvPr/>
        </p:nvSpPr>
        <p:spPr>
          <a:xfrm>
            <a:off x="4709160" y="1801368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25" name="Shape 23"/>
          <p:cNvSpPr/>
          <p:nvPr/>
        </p:nvSpPr>
        <p:spPr>
          <a:xfrm>
            <a:off x="4818888" y="1984248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6" name="Text 24"/>
          <p:cNvSpPr/>
          <p:nvPr/>
        </p:nvSpPr>
        <p:spPr>
          <a:xfrm>
            <a:off x="4818888" y="1984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s-CR" sz="1200" noProof="0" dirty="0"/>
          </a:p>
        </p:txBody>
      </p:sp>
      <p:sp>
        <p:nvSpPr>
          <p:cNvPr id="27" name="Text 25"/>
          <p:cNvSpPr/>
          <p:nvPr/>
        </p:nvSpPr>
        <p:spPr>
          <a:xfrm>
            <a:off x="5330952" y="1874520"/>
            <a:ext cx="3474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completa mediante serialización Java.</a:t>
            </a:r>
            <a:endParaRPr lang="es-CR" sz="1100" noProof="0" dirty="0"/>
          </a:p>
        </p:txBody>
      </p:sp>
      <p:sp>
        <p:nvSpPr>
          <p:cNvPr id="28" name="Shape 26"/>
          <p:cNvSpPr/>
          <p:nvPr/>
        </p:nvSpPr>
        <p:spPr>
          <a:xfrm>
            <a:off x="4709160" y="2852928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29" name="Shape 27"/>
          <p:cNvSpPr/>
          <p:nvPr/>
        </p:nvSpPr>
        <p:spPr>
          <a:xfrm>
            <a:off x="4818888" y="3035808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0" name="Text 28"/>
          <p:cNvSpPr/>
          <p:nvPr/>
        </p:nvSpPr>
        <p:spPr>
          <a:xfrm>
            <a:off x="4818888" y="3035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s-CR" sz="1200" noProof="0" dirty="0"/>
          </a:p>
        </p:txBody>
      </p:sp>
      <p:sp>
        <p:nvSpPr>
          <p:cNvPr id="31" name="Text 29"/>
          <p:cNvSpPr/>
          <p:nvPr/>
        </p:nvSpPr>
        <p:spPr>
          <a:xfrm>
            <a:off x="5330952" y="2926080"/>
            <a:ext cx="3474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de correo (@, .</a:t>
            </a:r>
            <a:r>
              <a:rPr lang="es-CR" sz="110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</a:t>
            </a: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y teléfono numérico en el formulario de usuarios.</a:t>
            </a:r>
            <a:endParaRPr lang="es-CR" sz="1100" noProof="0" dirty="0"/>
          </a:p>
        </p:txBody>
      </p:sp>
      <p:sp>
        <p:nvSpPr>
          <p:cNvPr id="32" name="Shape 30"/>
          <p:cNvSpPr/>
          <p:nvPr/>
        </p:nvSpPr>
        <p:spPr>
          <a:xfrm>
            <a:off x="4709160" y="3904488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33" name="Shape 31"/>
          <p:cNvSpPr/>
          <p:nvPr/>
        </p:nvSpPr>
        <p:spPr>
          <a:xfrm>
            <a:off x="4818888" y="4087368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4" name="Text 32"/>
          <p:cNvSpPr/>
          <p:nvPr/>
        </p:nvSpPr>
        <p:spPr>
          <a:xfrm>
            <a:off x="4818888" y="4087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s-CR" sz="1200" noProof="0" dirty="0"/>
          </a:p>
        </p:txBody>
      </p:sp>
      <p:sp>
        <p:nvSpPr>
          <p:cNvPr id="35" name="Text 33"/>
          <p:cNvSpPr/>
          <p:nvPr/>
        </p:nvSpPr>
        <p:spPr>
          <a:xfrm>
            <a:off x="5330952" y="3977640"/>
            <a:ext cx="3474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1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Ejecutable sin necesidad de tener Java instalado.</a:t>
            </a:r>
            <a:endParaRPr lang="es-CR" sz="11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2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crítico — Lo que faltó y posibles mejoras</a:t>
            </a:r>
            <a:endParaRPr lang="es-CR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3977640" cy="4114800"/>
          </a:xfrm>
          <a:prstGeom prst="roundRect">
            <a:avLst>
              <a:gd name="adj" fmla="val 229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400" b="1" noProof="0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faltó</a:t>
            </a:r>
            <a:endParaRPr lang="es-CR" sz="1400" noProof="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s-CR" sz="115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Chequeo de </a:t>
            </a:r>
            <a:r>
              <a:rPr lang="es-CR" sz="115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r>
              <a:rPr lang="es-CR" sz="115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ingresar los minutos de la alerta</a:t>
            </a:r>
            <a:endParaRPr lang="es-CR" sz="1150" noProof="0" dirty="0"/>
          </a:p>
          <a:p>
            <a:pPr marL="342900" indent="-342900">
              <a:buSzPct val="100000"/>
              <a:buChar char="•"/>
            </a:pPr>
            <a:r>
              <a:rPr lang="es-CR" sz="115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de cancelar inútil en algunas secciones.</a:t>
            </a:r>
            <a:endParaRPr lang="es-CR" sz="1150" noProof="0" dirty="0"/>
          </a:p>
          <a:p>
            <a:pPr marL="342900" indent="-342900">
              <a:buSzPct val="100000"/>
              <a:buChar char="•"/>
            </a:pPr>
            <a:r>
              <a:rPr lang="es-CR" sz="115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confirmación al cerrar con cambios sin guardar.</a:t>
            </a:r>
          </a:p>
          <a:p>
            <a:pPr marL="342900" indent="-342900">
              <a:buSzPct val="100000"/>
              <a:buChar char="•"/>
            </a:pPr>
            <a:r>
              <a:rPr lang="es-CR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métodos de la controladora no deben recibir como parámetros los objetos de lógica.</a:t>
            </a:r>
            <a:endParaRPr lang="es-CR" sz="1150" noProof="0" dirty="0"/>
          </a:p>
        </p:txBody>
      </p:sp>
      <p:sp>
        <p:nvSpPr>
          <p:cNvPr id="7" name="Shape 5"/>
          <p:cNvSpPr/>
          <p:nvPr/>
        </p:nvSpPr>
        <p:spPr>
          <a:xfrm>
            <a:off x="4846320" y="749808"/>
            <a:ext cx="3977640" cy="4114800"/>
          </a:xfrm>
          <a:prstGeom prst="roundRect">
            <a:avLst>
              <a:gd name="adj" fmla="val 2299"/>
            </a:avLst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8" name="Text 6"/>
          <p:cNvSpPr/>
          <p:nvPr/>
        </p:nvSpPr>
        <p:spPr>
          <a:xfrm>
            <a:off x="5029200" y="8412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400" b="1" noProof="0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Posibles mejoras</a:t>
            </a:r>
            <a:endParaRPr lang="es-CR" sz="1400" noProof="0" dirty="0"/>
          </a:p>
        </p:txBody>
      </p:sp>
      <p:sp>
        <p:nvSpPr>
          <p:cNvPr id="9" name="Text 7"/>
          <p:cNvSpPr/>
          <p:nvPr/>
        </p:nvSpPr>
        <p:spPr>
          <a:xfrm>
            <a:off x="5029200" y="1298448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s-CR" sz="115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fecha límite de devolución visible en la lista de préstamos.</a:t>
            </a:r>
            <a:endParaRPr lang="es-CR" sz="1150" noProof="0" dirty="0"/>
          </a:p>
          <a:p>
            <a:pPr marL="342900" indent="-342900">
              <a:buSzPct val="100000"/>
              <a:buChar char="•"/>
            </a:pPr>
            <a:r>
              <a:rPr lang="es-CR" sz="115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búsqueda/filtrado en las tablas de ítems, tipos, categorías y usuarios.</a:t>
            </a:r>
            <a:endParaRPr lang="es-CR" sz="1150" noProof="0" dirty="0"/>
          </a:p>
          <a:p>
            <a:pPr marL="342900" indent="-342900">
              <a:buSzPct val="100000"/>
              <a:buChar char="•"/>
            </a:pPr>
            <a:r>
              <a:rPr lang="es-CR" sz="115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un historial de préstamos finalizados.</a:t>
            </a:r>
          </a:p>
          <a:p>
            <a:pPr marL="342900" indent="-342900">
              <a:buSzPct val="100000"/>
              <a:buChar char="•"/>
            </a:pPr>
            <a:r>
              <a:rPr lang="es-CR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categorías más cómodo al crear un ítem.</a:t>
            </a:r>
            <a:endParaRPr lang="es-CR" sz="115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2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del sistema</a:t>
            </a:r>
            <a:endParaRPr lang="es-CR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206240" cy="1261872"/>
          </a:xfrm>
          <a:prstGeom prst="roundRect">
            <a:avLst>
              <a:gd name="adj" fmla="val 7246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s-CR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1051560" y="84124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300" b="1" noProof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Administración</a:t>
            </a:r>
            <a:endParaRPr lang="es-CR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1051560" y="1225296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tipos, categorías, ítems y usuarios desde la pestaña Administración.</a:t>
            </a:r>
            <a:endParaRPr lang="es-CR" sz="1100" noProof="0" dirty="0"/>
          </a:p>
        </p:txBody>
      </p:sp>
      <p:sp>
        <p:nvSpPr>
          <p:cNvPr id="9" name="Shape 7"/>
          <p:cNvSpPr/>
          <p:nvPr/>
        </p:nvSpPr>
        <p:spPr>
          <a:xfrm>
            <a:off x="4709160" y="749808"/>
            <a:ext cx="4206240" cy="1261872"/>
          </a:xfrm>
          <a:prstGeom prst="roundRect">
            <a:avLst>
              <a:gd name="adj" fmla="val 7246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1" name="Text 9"/>
          <p:cNvSpPr/>
          <p:nvPr/>
        </p:nvSpPr>
        <p:spPr>
          <a:xfrm>
            <a:off x="4846320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s-CR" sz="1400" noProof="0" dirty="0"/>
          </a:p>
        </p:txBody>
      </p:sp>
      <p:sp>
        <p:nvSpPr>
          <p:cNvPr id="12" name="Text 10"/>
          <p:cNvSpPr/>
          <p:nvPr/>
        </p:nvSpPr>
        <p:spPr>
          <a:xfrm>
            <a:off x="5440680" y="84124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300" b="1" noProof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préstamo</a:t>
            </a:r>
            <a:endParaRPr lang="es-CR" sz="1300" noProof="0" dirty="0"/>
          </a:p>
        </p:txBody>
      </p:sp>
      <p:sp>
        <p:nvSpPr>
          <p:cNvPr id="13" name="Text 11"/>
          <p:cNvSpPr/>
          <p:nvPr/>
        </p:nvSpPr>
        <p:spPr>
          <a:xfrm>
            <a:off x="5440680" y="1225296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 la pestaña Préstamo → Crear préstamo → seleccionar usuario e ítems.</a:t>
            </a:r>
            <a:endParaRPr lang="es-CR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320040" y="2167128"/>
            <a:ext cx="4206240" cy="1261872"/>
          </a:xfrm>
          <a:prstGeom prst="roundRect">
            <a:avLst>
              <a:gd name="adj" fmla="val 7246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6" name="Text 14"/>
          <p:cNvSpPr/>
          <p:nvPr/>
        </p:nvSpPr>
        <p:spPr>
          <a:xfrm>
            <a:off x="457200" y="2514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s-CR" sz="1400" noProof="0" dirty="0"/>
          </a:p>
        </p:txBody>
      </p:sp>
      <p:sp>
        <p:nvSpPr>
          <p:cNvPr id="17" name="Text 15"/>
          <p:cNvSpPr/>
          <p:nvPr/>
        </p:nvSpPr>
        <p:spPr>
          <a:xfrm>
            <a:off x="1051560" y="225856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300" b="1" noProof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Alerta</a:t>
            </a:r>
            <a:endParaRPr lang="es-CR" sz="1300" noProof="0" dirty="0"/>
          </a:p>
        </p:txBody>
      </p:sp>
      <p:sp>
        <p:nvSpPr>
          <p:cNvPr id="18" name="Text 16"/>
          <p:cNvSpPr/>
          <p:nvPr/>
        </p:nvSpPr>
        <p:spPr>
          <a:xfrm>
            <a:off x="1051560" y="2642616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una alerta de Una vez o Repetida con minutos de activación.</a:t>
            </a:r>
            <a:endParaRPr lang="es-CR" sz="1100" noProof="0" dirty="0"/>
          </a:p>
        </p:txBody>
      </p:sp>
      <p:sp>
        <p:nvSpPr>
          <p:cNvPr id="19" name="Shape 17"/>
          <p:cNvSpPr/>
          <p:nvPr/>
        </p:nvSpPr>
        <p:spPr>
          <a:xfrm>
            <a:off x="4709160" y="2167128"/>
            <a:ext cx="4206240" cy="1261872"/>
          </a:xfrm>
          <a:prstGeom prst="roundRect">
            <a:avLst>
              <a:gd name="adj" fmla="val 7246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20" name="Shape 18"/>
          <p:cNvSpPr/>
          <p:nvPr/>
        </p:nvSpPr>
        <p:spPr>
          <a:xfrm>
            <a:off x="4846320" y="2514600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1" name="Text 19"/>
          <p:cNvSpPr/>
          <p:nvPr/>
        </p:nvSpPr>
        <p:spPr>
          <a:xfrm>
            <a:off x="4846320" y="2514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s-CR" sz="1400" noProof="0" dirty="0"/>
          </a:p>
        </p:txBody>
      </p:sp>
      <p:sp>
        <p:nvSpPr>
          <p:cNvPr id="22" name="Text 20"/>
          <p:cNvSpPr/>
          <p:nvPr/>
        </p:nvSpPr>
        <p:spPr>
          <a:xfrm>
            <a:off x="5440680" y="225856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300" b="1" noProof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Finalizar</a:t>
            </a:r>
            <a:endParaRPr lang="es-CR" sz="1300" noProof="0" dirty="0"/>
          </a:p>
        </p:txBody>
      </p:sp>
      <p:sp>
        <p:nvSpPr>
          <p:cNvPr id="23" name="Text 21"/>
          <p:cNvSpPr/>
          <p:nvPr/>
        </p:nvSpPr>
        <p:spPr>
          <a:xfrm>
            <a:off x="5440680" y="2642616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el préstamo activo y hacer clic en Finalizar préstamo.</a:t>
            </a:r>
            <a:endParaRPr lang="es-CR" sz="1100" noProof="0" dirty="0"/>
          </a:p>
        </p:txBody>
      </p:sp>
      <p:sp>
        <p:nvSpPr>
          <p:cNvPr id="24" name="Shape 22"/>
          <p:cNvSpPr/>
          <p:nvPr/>
        </p:nvSpPr>
        <p:spPr>
          <a:xfrm>
            <a:off x="320040" y="3584448"/>
            <a:ext cx="4206240" cy="1261872"/>
          </a:xfrm>
          <a:prstGeom prst="roundRect">
            <a:avLst>
              <a:gd name="adj" fmla="val 7246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6" name="Text 24"/>
          <p:cNvSpPr/>
          <p:nvPr/>
        </p:nvSpPr>
        <p:spPr>
          <a:xfrm>
            <a:off x="457200" y="3931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s-CR" sz="1400" noProof="0" dirty="0"/>
          </a:p>
        </p:txBody>
      </p:sp>
      <p:sp>
        <p:nvSpPr>
          <p:cNvPr id="27" name="Text 25"/>
          <p:cNvSpPr/>
          <p:nvPr/>
        </p:nvSpPr>
        <p:spPr>
          <a:xfrm>
            <a:off x="1051560" y="36758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300" b="1" noProof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Reportes</a:t>
            </a:r>
            <a:endParaRPr lang="es-CR" sz="1300" noProof="0" dirty="0"/>
          </a:p>
        </p:txBody>
      </p:sp>
      <p:sp>
        <p:nvSpPr>
          <p:cNvPr id="28" name="Text 26"/>
          <p:cNvSpPr/>
          <p:nvPr/>
        </p:nvSpPr>
        <p:spPr>
          <a:xfrm>
            <a:off x="1051560" y="4059936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Pestaña Reportes: ver listados por usuario, ítem, categoría y tipo.</a:t>
            </a:r>
            <a:endParaRPr lang="es-CR" sz="1100" noProof="0" dirty="0"/>
          </a:p>
        </p:txBody>
      </p:sp>
      <p:sp>
        <p:nvSpPr>
          <p:cNvPr id="29" name="Shape 27"/>
          <p:cNvSpPr/>
          <p:nvPr/>
        </p:nvSpPr>
        <p:spPr>
          <a:xfrm>
            <a:off x="4709160" y="3584448"/>
            <a:ext cx="4206240" cy="1261872"/>
          </a:xfrm>
          <a:prstGeom prst="roundRect">
            <a:avLst>
              <a:gd name="adj" fmla="val 7246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30" name="Shape 28"/>
          <p:cNvSpPr/>
          <p:nvPr/>
        </p:nvSpPr>
        <p:spPr>
          <a:xfrm>
            <a:off x="4846320" y="3931920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1" name="Text 29"/>
          <p:cNvSpPr/>
          <p:nvPr/>
        </p:nvSpPr>
        <p:spPr>
          <a:xfrm>
            <a:off x="4846320" y="3931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s-CR" sz="1400" noProof="0" dirty="0"/>
          </a:p>
        </p:txBody>
      </p:sp>
      <p:sp>
        <p:nvSpPr>
          <p:cNvPr id="32" name="Text 30"/>
          <p:cNvSpPr/>
          <p:nvPr/>
        </p:nvSpPr>
        <p:spPr>
          <a:xfrm>
            <a:off x="5440680" y="36758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300" b="1" noProof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Persistencia</a:t>
            </a:r>
            <a:endParaRPr lang="es-CR" sz="1300" noProof="0" dirty="0"/>
          </a:p>
        </p:txBody>
      </p:sp>
      <p:sp>
        <p:nvSpPr>
          <p:cNvPr id="33" name="Text 31"/>
          <p:cNvSpPr/>
          <p:nvPr/>
        </p:nvSpPr>
        <p:spPr>
          <a:xfrm>
            <a:off x="5440680" y="4059936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la aplicación → volver a abrir: todos los datos se mantienen.</a:t>
            </a:r>
            <a:endParaRPr lang="es-CR" sz="11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2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s-CR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749808"/>
          </a:xfrm>
          <a:prstGeom prst="roundRect">
            <a:avLst>
              <a:gd name="adj" fmla="val 9756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CR" sz="1300" noProof="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2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en tres capas (Interfaz / Control / Lógica) facilitó la separación de responsabilidades y mantuvo el código organizado a lo largo del proyecto.</a:t>
            </a:r>
            <a:endParaRPr lang="es-C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8503920" cy="749808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9" name="Shape 7"/>
          <p:cNvSpPr/>
          <p:nvPr/>
        </p:nvSpPr>
        <p:spPr>
          <a:xfrm>
            <a:off x="457200" y="1746504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0" name="Text 8"/>
          <p:cNvSpPr/>
          <p:nvPr/>
        </p:nvSpPr>
        <p:spPr>
          <a:xfrm>
            <a:off x="457200" y="1746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CR" sz="1300" noProof="0" dirty="0"/>
          </a:p>
        </p:txBody>
      </p:sp>
      <p:sp>
        <p:nvSpPr>
          <p:cNvPr id="11" name="Text 9"/>
          <p:cNvSpPr/>
          <p:nvPr/>
        </p:nvSpPr>
        <p:spPr>
          <a:xfrm>
            <a:off x="1051560" y="1673352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2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Singleton en Controladora permitió un acceso centralizado y coherente a los datos desde cualquier ventana de la interfaz.</a:t>
            </a:r>
            <a:endParaRPr lang="es-CR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320040" y="2450592"/>
            <a:ext cx="8503920" cy="749808"/>
          </a:xfrm>
          <a:prstGeom prst="roundRect">
            <a:avLst>
              <a:gd name="adj" fmla="val 9756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3" name="Shape 11"/>
          <p:cNvSpPr/>
          <p:nvPr/>
        </p:nvSpPr>
        <p:spPr>
          <a:xfrm>
            <a:off x="457200" y="2596896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4" name="Text 12"/>
          <p:cNvSpPr/>
          <p:nvPr/>
        </p:nvSpPr>
        <p:spPr>
          <a:xfrm>
            <a:off x="457200" y="2596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CR" sz="1300" noProof="0" dirty="0"/>
          </a:p>
        </p:txBody>
      </p:sp>
      <p:sp>
        <p:nvSpPr>
          <p:cNvPr id="15" name="Text 13"/>
          <p:cNvSpPr/>
          <p:nvPr/>
        </p:nvSpPr>
        <p:spPr>
          <a:xfrm>
            <a:off x="1051560" y="2523744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2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serialización Java resulta útil para almacenar los datos ingresados por el usuario.</a:t>
            </a:r>
            <a:endParaRPr lang="es-CR" sz="1200" noProof="0" dirty="0"/>
          </a:p>
        </p:txBody>
      </p:sp>
      <p:sp>
        <p:nvSpPr>
          <p:cNvPr id="16" name="Shape 14"/>
          <p:cNvSpPr/>
          <p:nvPr/>
        </p:nvSpPr>
        <p:spPr>
          <a:xfrm>
            <a:off x="320040" y="3300984"/>
            <a:ext cx="8503920" cy="749808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7" name="Shape 15"/>
          <p:cNvSpPr/>
          <p:nvPr/>
        </p:nvSpPr>
        <p:spPr>
          <a:xfrm>
            <a:off x="457200" y="344728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8" name="Text 16"/>
          <p:cNvSpPr/>
          <p:nvPr/>
        </p:nvSpPr>
        <p:spPr>
          <a:xfrm>
            <a:off x="45720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CR" sz="1300" noProof="0" dirty="0"/>
          </a:p>
        </p:txBody>
      </p:sp>
      <p:sp>
        <p:nvSpPr>
          <p:cNvPr id="19" name="Text 17"/>
          <p:cNvSpPr/>
          <p:nvPr/>
        </p:nvSpPr>
        <p:spPr>
          <a:xfrm>
            <a:off x="1051560" y="3374136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2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 alertas demostró cómo integrar lógica temporal (</a:t>
            </a:r>
            <a:r>
              <a:rPr lang="es-CR" sz="120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LocalDateTime</a:t>
            </a:r>
            <a:r>
              <a:rPr lang="es-CR" sz="12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dentro de objetos </a:t>
            </a:r>
            <a:r>
              <a:rPr lang="es-CR" sz="120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serializables</a:t>
            </a:r>
            <a:r>
              <a:rPr lang="es-CR" sz="12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 perder el estado entre ejecuciones.</a:t>
            </a:r>
            <a:endParaRPr lang="es-CR" sz="1200" noProof="0" dirty="0"/>
          </a:p>
        </p:txBody>
      </p:sp>
      <p:sp>
        <p:nvSpPr>
          <p:cNvPr id="20" name="Shape 18"/>
          <p:cNvSpPr/>
          <p:nvPr/>
        </p:nvSpPr>
        <p:spPr>
          <a:xfrm>
            <a:off x="320040" y="4151376"/>
            <a:ext cx="8503920" cy="749808"/>
          </a:xfrm>
          <a:prstGeom prst="roundRect">
            <a:avLst>
              <a:gd name="adj" fmla="val 9756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2" name="Text 20"/>
          <p:cNvSpPr/>
          <p:nvPr/>
        </p:nvSpPr>
        <p:spPr>
          <a:xfrm>
            <a:off x="45720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s-CR" sz="1300" noProof="0" dirty="0"/>
          </a:p>
        </p:txBody>
      </p:sp>
      <p:sp>
        <p:nvSpPr>
          <p:cNvPr id="23" name="Text 21"/>
          <p:cNvSpPr/>
          <p:nvPr/>
        </p:nvSpPr>
        <p:spPr>
          <a:xfrm>
            <a:off x="1051560" y="4224528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R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borrar un tipo, se asigna uno genérico automáticamente para que los elementos no se queden vacíos y no causen errores cuando el programa se esté ejecutando.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2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Recomendaciones</a:t>
            </a:r>
            <a:endParaRPr lang="es-CR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206240" cy="1261872"/>
          </a:xfrm>
          <a:prstGeom prst="roundRect">
            <a:avLst>
              <a:gd name="adj" fmla="val 7246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75488" cy="4754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CR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1051560" y="84124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300" b="1" noProof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Mejorar el chequeo de restricciones</a:t>
            </a:r>
            <a:endParaRPr lang="es-CR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1051560" y="1225296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Asegurarse de que se muestre un error en todos los posibles casos donde el programa pueda fallar</a:t>
            </a:r>
            <a:endParaRPr lang="es-CR" sz="1100" noProof="0" dirty="0"/>
          </a:p>
        </p:txBody>
      </p:sp>
      <p:sp>
        <p:nvSpPr>
          <p:cNvPr id="9" name="Shape 7"/>
          <p:cNvSpPr/>
          <p:nvPr/>
        </p:nvSpPr>
        <p:spPr>
          <a:xfrm>
            <a:off x="4709160" y="749808"/>
            <a:ext cx="4206240" cy="1261872"/>
          </a:xfrm>
          <a:prstGeom prst="roundRect">
            <a:avLst>
              <a:gd name="adj" fmla="val 7246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475488" cy="4754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1" name="Text 9"/>
          <p:cNvSpPr/>
          <p:nvPr/>
        </p:nvSpPr>
        <p:spPr>
          <a:xfrm>
            <a:off x="4846320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CR" sz="1400" noProof="0" dirty="0"/>
          </a:p>
        </p:txBody>
      </p:sp>
      <p:sp>
        <p:nvSpPr>
          <p:cNvPr id="12" name="Text 10"/>
          <p:cNvSpPr/>
          <p:nvPr/>
        </p:nvSpPr>
        <p:spPr>
          <a:xfrm>
            <a:off x="5440680" y="84124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300" b="1" noProof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Pensar antes de programar</a:t>
            </a:r>
            <a:endParaRPr lang="es-CR" sz="1300" noProof="0" dirty="0"/>
          </a:p>
        </p:txBody>
      </p:sp>
      <p:sp>
        <p:nvSpPr>
          <p:cNvPr id="13" name="Text 11"/>
          <p:cNvSpPr/>
          <p:nvPr/>
        </p:nvSpPr>
        <p:spPr>
          <a:xfrm>
            <a:off x="5440680" y="1225296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Recopilar toda la información de lo que se quiere realizar para crear diagramas que ejemplifiquen de forma gráfica lo que se quiere hacer y lo que se necesita para lograrlo</a:t>
            </a:r>
            <a:endParaRPr lang="es-CR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320040" y="2167128"/>
            <a:ext cx="4206240" cy="1261872"/>
          </a:xfrm>
          <a:prstGeom prst="roundRect">
            <a:avLst>
              <a:gd name="adj" fmla="val 7246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475488" cy="4754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6" name="Text 14"/>
          <p:cNvSpPr/>
          <p:nvPr/>
        </p:nvSpPr>
        <p:spPr>
          <a:xfrm>
            <a:off x="457200" y="2514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CR" sz="1400" noProof="0" dirty="0"/>
          </a:p>
        </p:txBody>
      </p:sp>
      <p:sp>
        <p:nvSpPr>
          <p:cNvPr id="17" name="Text 15"/>
          <p:cNvSpPr/>
          <p:nvPr/>
        </p:nvSpPr>
        <p:spPr>
          <a:xfrm>
            <a:off x="1051560" y="225856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300" b="1" noProof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Historial de préstamos</a:t>
            </a:r>
            <a:endParaRPr lang="es-CR" sz="1300" noProof="0" dirty="0"/>
          </a:p>
        </p:txBody>
      </p:sp>
      <p:sp>
        <p:nvSpPr>
          <p:cNvPr id="18" name="Text 16"/>
          <p:cNvSpPr/>
          <p:nvPr/>
        </p:nvSpPr>
        <p:spPr>
          <a:xfrm>
            <a:off x="1051560" y="2642616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los préstamos finalizados para poder usarlos de evidencia, actualmente se eliminan permanentemente.</a:t>
            </a:r>
            <a:endParaRPr lang="es-CR" sz="1100" noProof="0" dirty="0"/>
          </a:p>
        </p:txBody>
      </p:sp>
      <p:sp>
        <p:nvSpPr>
          <p:cNvPr id="19" name="Shape 17"/>
          <p:cNvSpPr/>
          <p:nvPr/>
        </p:nvSpPr>
        <p:spPr>
          <a:xfrm>
            <a:off x="4709160" y="2167128"/>
            <a:ext cx="4206240" cy="1261872"/>
          </a:xfrm>
          <a:prstGeom prst="roundRect">
            <a:avLst>
              <a:gd name="adj" fmla="val 7246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20" name="Shape 18"/>
          <p:cNvSpPr/>
          <p:nvPr/>
        </p:nvSpPr>
        <p:spPr>
          <a:xfrm>
            <a:off x="4846320" y="2514600"/>
            <a:ext cx="475488" cy="4754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1" name="Text 19"/>
          <p:cNvSpPr/>
          <p:nvPr/>
        </p:nvSpPr>
        <p:spPr>
          <a:xfrm>
            <a:off x="4846320" y="2514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CR" sz="1400" noProof="0" dirty="0"/>
          </a:p>
        </p:txBody>
      </p:sp>
      <p:sp>
        <p:nvSpPr>
          <p:cNvPr id="22" name="Text 20"/>
          <p:cNvSpPr/>
          <p:nvPr/>
        </p:nvSpPr>
        <p:spPr>
          <a:xfrm>
            <a:off x="5440680" y="225856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300" b="1" noProof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Separar la programación</a:t>
            </a:r>
            <a:endParaRPr lang="es-CR" sz="1300" noProof="0" dirty="0"/>
          </a:p>
        </p:txBody>
      </p:sp>
      <p:sp>
        <p:nvSpPr>
          <p:cNvPr id="23" name="Text 21"/>
          <p:cNvSpPr/>
          <p:nvPr/>
        </p:nvSpPr>
        <p:spPr>
          <a:xfrm>
            <a:off x="5440680" y="2642616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correcta separación de cada parte del proyecto (interfaz, controladora, lógica) para que el mantenimiento sea más cómodo y sencillo.</a:t>
            </a:r>
            <a:endParaRPr lang="es-CR" sz="1100" noProof="0" dirty="0"/>
          </a:p>
        </p:txBody>
      </p:sp>
      <p:sp>
        <p:nvSpPr>
          <p:cNvPr id="24" name="Shape 22"/>
          <p:cNvSpPr/>
          <p:nvPr/>
        </p:nvSpPr>
        <p:spPr>
          <a:xfrm>
            <a:off x="320040" y="3584448"/>
            <a:ext cx="4206240" cy="1261872"/>
          </a:xfrm>
          <a:prstGeom prst="roundRect">
            <a:avLst>
              <a:gd name="adj" fmla="val 7246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475488" cy="4754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6" name="Text 24"/>
          <p:cNvSpPr/>
          <p:nvPr/>
        </p:nvSpPr>
        <p:spPr>
          <a:xfrm>
            <a:off x="457200" y="3931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CR" sz="1400" noProof="0" dirty="0"/>
          </a:p>
        </p:txBody>
      </p:sp>
      <p:sp>
        <p:nvSpPr>
          <p:cNvPr id="27" name="Text 25"/>
          <p:cNvSpPr/>
          <p:nvPr/>
        </p:nvSpPr>
        <p:spPr>
          <a:xfrm>
            <a:off x="1051560" y="36758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300" b="1" noProof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Corregir controladora</a:t>
            </a:r>
            <a:endParaRPr lang="es-CR" sz="1300" noProof="0" dirty="0"/>
          </a:p>
        </p:txBody>
      </p:sp>
      <p:sp>
        <p:nvSpPr>
          <p:cNvPr id="28" name="Text 26"/>
          <p:cNvSpPr/>
          <p:nvPr/>
        </p:nvSpPr>
        <p:spPr>
          <a:xfrm>
            <a:off x="1051560" y="4059936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que los métodos de la controladora no reciban los objetos de lógica como parámetros.</a:t>
            </a:r>
          </a:p>
        </p:txBody>
      </p:sp>
      <p:sp>
        <p:nvSpPr>
          <p:cNvPr id="29" name="Shape 27"/>
          <p:cNvSpPr/>
          <p:nvPr/>
        </p:nvSpPr>
        <p:spPr>
          <a:xfrm>
            <a:off x="4709160" y="3584448"/>
            <a:ext cx="4206240" cy="1261872"/>
          </a:xfrm>
          <a:prstGeom prst="roundRect">
            <a:avLst>
              <a:gd name="adj" fmla="val 7246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30" name="Shape 28"/>
          <p:cNvSpPr/>
          <p:nvPr/>
        </p:nvSpPr>
        <p:spPr>
          <a:xfrm>
            <a:off x="4846320" y="3931920"/>
            <a:ext cx="475488" cy="4754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1" name="Text 29"/>
          <p:cNvSpPr/>
          <p:nvPr/>
        </p:nvSpPr>
        <p:spPr>
          <a:xfrm>
            <a:off x="4846320" y="3931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CR" sz="1400" noProof="0" dirty="0"/>
          </a:p>
        </p:txBody>
      </p:sp>
      <p:sp>
        <p:nvSpPr>
          <p:cNvPr id="32" name="Text 30"/>
          <p:cNvSpPr/>
          <p:nvPr/>
        </p:nvSpPr>
        <p:spPr>
          <a:xfrm>
            <a:off x="5440680" y="36758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300" b="1" noProof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Información persistente</a:t>
            </a:r>
            <a:endParaRPr lang="es-CR" sz="1300" noProof="0" dirty="0"/>
          </a:p>
        </p:txBody>
      </p:sp>
      <p:sp>
        <p:nvSpPr>
          <p:cNvPr id="33" name="Text 31"/>
          <p:cNvSpPr/>
          <p:nvPr/>
        </p:nvSpPr>
        <p:spPr>
          <a:xfrm>
            <a:off x="5440680" y="4059936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una forma de guardar los datos ingresados en disco para volver más fácil su acceso y no necesitar de llenar constantemente la información para casos de prueba.</a:t>
            </a:r>
            <a:endParaRPr lang="es-CR" sz="11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474720" cy="347472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5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</a:t>
            </a:r>
            <a:endParaRPr lang="es-CR" sz="5200" noProof="0" dirty="0"/>
          </a:p>
        </p:txBody>
      </p:sp>
      <p:sp>
        <p:nvSpPr>
          <p:cNvPr id="5" name="Shape 3"/>
          <p:cNvSpPr/>
          <p:nvPr/>
        </p:nvSpPr>
        <p:spPr>
          <a:xfrm>
            <a:off x="3474720" y="2468880"/>
            <a:ext cx="219456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800" noProof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 de Préstamos</a:t>
            </a:r>
            <a:endParaRPr lang="es-CR" sz="1800" noProof="0" dirty="0"/>
          </a:p>
        </p:txBody>
      </p:sp>
      <p:sp>
        <p:nvSpPr>
          <p:cNvPr id="8" name="Text 6"/>
          <p:cNvSpPr/>
          <p:nvPr/>
        </p:nvSpPr>
        <p:spPr>
          <a:xfrm>
            <a:off x="914400" y="329371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2000" b="1" noProof="0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¿Preguntas?</a:t>
            </a:r>
            <a:endParaRPr lang="es-CR" sz="20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1347</Words>
  <Application>Microsoft Office PowerPoint</Application>
  <PresentationFormat>Presentación en pantalla (16:9)</PresentationFormat>
  <Paragraphs>200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de Préstamos - Presentación</dc:title>
  <dc:subject>PptxGenJS Presentation</dc:subject>
  <dc:creator>PptxGenJS</dc:creator>
  <cp:lastModifiedBy>JOSE JULIAN RODRIGUEZ CHAVES</cp:lastModifiedBy>
  <cp:revision>8</cp:revision>
  <dcterms:created xsi:type="dcterms:W3CDTF">2026-06-26T00:39:50Z</dcterms:created>
  <dcterms:modified xsi:type="dcterms:W3CDTF">2026-06-26T06:24:18Z</dcterms:modified>
</cp:coreProperties>
</file>